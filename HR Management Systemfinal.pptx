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JetBrains Mono"/>
      <p:bold r:id="rId19"/>
    </p:embeddedFont>
    <p:embeddedFont>
      <p:font typeface="Plus Jakarta Sans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000" y="5448151"/>
            <a:ext cx="10668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448151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53350" y="628650"/>
            <a:ext cx="1428750" cy="304800"/>
          </a:xfrm>
          <a:prstGeom prst="roundRect">
            <a:avLst>
              <a:gd name="adj" fmla="val 18750"/>
            </a:avLst>
          </a:prstGeom>
          <a:solidFill>
            <a:srgbClr val="16306D"/>
          </a:solidFill>
          <a:ln w="9525">
            <a:solidFill>
              <a:srgbClr val="3851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34500" y="628650"/>
            <a:ext cx="1123950" cy="304800"/>
          </a:xfrm>
          <a:prstGeom prst="roundRect">
            <a:avLst>
              <a:gd name="adj" fmla="val 18750"/>
            </a:avLst>
          </a:prstGeom>
          <a:solidFill>
            <a:srgbClr val="3A203D"/>
          </a:solidFill>
          <a:ln w="9525">
            <a:solidFill>
              <a:srgbClr val="563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10850" y="628650"/>
            <a:ext cx="819150" cy="304800"/>
          </a:xfrm>
          <a:prstGeom prst="roundRect">
            <a:avLst>
              <a:gd name="adj" fmla="val 18750"/>
            </a:avLst>
          </a:prstGeom>
          <a:solidFill>
            <a:srgbClr val="0E335D"/>
          </a:solidFill>
          <a:ln w="9525">
            <a:solidFill>
              <a:srgbClr val="1D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71500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925" y="6105376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76275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2365027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ENTERPRISE WEB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736502"/>
            <a:ext cx="11251406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HR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502223"/>
            <a:ext cx="7334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A Full-Stack Enterprise Solution for Automated Workforce Tracking, Role-Based Access Control, and Intelligent Payroll Processing.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681037"/>
            <a:ext cx="139313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93C5FD"/>
                </a:solidFill>
                <a:latin typeface="JetBrains Mono"/>
              </a:rPr>
              <a:t>THIRD</a:t>
            </a:r>
            <a:r>
              <a:rPr sz="1200" b="1" i="0" u="none" dirty="0">
                <a:solidFill>
                  <a:srgbClr val="93C5FD"/>
                </a:solidFill>
                <a:latin typeface="JetBrains Mono"/>
              </a:rPr>
              <a:t> YEAR PROJECT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6700" y="685800"/>
            <a:ext cx="1257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FDBFE"/>
                </a:solidFill>
                <a:latin typeface="JetBrains Mono"/>
              </a:rPr>
              <a:t>Spring Boot 3.x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7850" y="6858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CA5A5"/>
                </a:solidFill>
                <a:latin typeface="JetBrains Mono"/>
              </a:rPr>
              <a:t>Angular 17+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85800"/>
            <a:ext cx="647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DD3FC"/>
                </a:solidFill>
                <a:latin typeface="JetBrains Mono"/>
              </a:rPr>
              <a:t>MySQL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5575" y="6095851"/>
            <a:ext cx="14001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JetBrains Mono"/>
              </a:rPr>
              <a:t>v1.0.0-STABLE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686276"/>
            <a:ext cx="3012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STUDENT /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5895826"/>
            <a:ext cx="54797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1" dirty="0">
                <a:solidFill>
                  <a:srgbClr val="F1F5F9"/>
                </a:solidFill>
                <a:latin typeface="Plus Jakarta Sans"/>
              </a:rPr>
              <a:t>Tanishq</a:t>
            </a:r>
            <a:endParaRPr sz="1350" b="1" i="0" u="none" dirty="0">
              <a:solidFill>
                <a:srgbClr val="F1F5F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6114901"/>
            <a:ext cx="135453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chemeClr val="bg1"/>
                </a:solidFill>
                <a:latin typeface="Plus Jakarta Sans"/>
              </a:rPr>
              <a:t>Roll No: 2</a:t>
            </a:r>
            <a:r>
              <a:rPr lang="en-US" sz="1050" dirty="0">
                <a:solidFill>
                  <a:schemeClr val="bg1"/>
                </a:solidFill>
                <a:latin typeface="Plus Jakarta Sans"/>
              </a:rPr>
              <a:t>400320101164</a:t>
            </a:r>
            <a:endParaRPr sz="1050"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29025" y="5686276"/>
            <a:ext cx="3524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COLLEGE / INSTITUTE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9025" y="5895826"/>
            <a:ext cx="3524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Department of Computer Science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9025" y="6114901"/>
            <a:ext cx="3524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Faculty of Engineering &amp; 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5625" y="5686276"/>
            <a:ext cx="3131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PROJECT GUIDE / MENTOR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5625" y="5895826"/>
            <a:ext cx="3131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Prof. Guide / Supervisor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5625" y="6114901"/>
            <a:ext cx="3131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4A3B8"/>
                </a:solidFill>
                <a:latin typeface="Plus Jakarta Sans"/>
              </a:rPr>
              <a:t>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42529"/>
            <a:ext cx="5314652" cy="1108471"/>
          </a:xfrm>
          <a:prstGeom prst="roundRect">
            <a:avLst>
              <a:gd name="adj" fmla="val 103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422451"/>
            <a:ext cx="5314652" cy="1108471"/>
          </a:xfrm>
          <a:prstGeom prst="roundRect">
            <a:avLst>
              <a:gd name="adj" fmla="val 103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702373"/>
            <a:ext cx="5314652" cy="1108471"/>
          </a:xfrm>
          <a:prstGeom prst="roundRect">
            <a:avLst>
              <a:gd name="adj" fmla="val 103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152" y="1976437"/>
            <a:ext cx="5315247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677" y="1985962"/>
            <a:ext cx="5296197" cy="398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342554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622476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902398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637" y="2456854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" y="3736776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5016698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02 /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7179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FOUNDATION &amp;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66750"/>
            <a:ext cx="7538442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What is an HR Management System?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125" y="2342554"/>
            <a:ext cx="570032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Plus Jakarta Sans"/>
              </a:rPr>
              <a:t>System 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1125" y="2609254"/>
            <a:ext cx="4438352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Centralize records, staff lifecycle workflows, and administrative operations into a unified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1125" y="3622476"/>
            <a:ext cx="570032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Plus Jakarta Sans"/>
              </a:rPr>
              <a:t>Digitization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1125" y="3889176"/>
            <a:ext cx="4438352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Eliminates paper silos, manual calculations, and reduces processing turnaround from days to seconds.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1125" y="4902398"/>
            <a:ext cx="570032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Plus Jakarta Sans"/>
              </a:rPr>
              <a:t>Manual Overhead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1125" y="5169098"/>
            <a:ext cx="4438352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Spreadsheet sprawl causes human calculation errors, security hazards, and compliance oversights.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38387"/>
            <a:ext cx="35305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600" y="2338387"/>
            <a:ext cx="3530649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750" y="2338387"/>
            <a:ext cx="35305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52887"/>
            <a:ext cx="35305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30600" y="4052887"/>
            <a:ext cx="3530649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51750" y="4052887"/>
            <a:ext cx="35305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576512"/>
            <a:ext cx="1905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25" y="2576512"/>
            <a:ext cx="2476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875" y="2576512"/>
            <a:ext cx="21907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291012"/>
            <a:ext cx="1905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725" y="4291012"/>
            <a:ext cx="219075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875" y="4291012"/>
            <a:ext cx="24765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03 /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3881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CHALLENGES OF LEGACY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66750"/>
            <a:ext cx="4075509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938462"/>
            <a:ext cx="400870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Plus Jakarta Sans"/>
              </a:rPr>
              <a:t>Manual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224212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Scattered physical registers prone to data loss and duplication.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725" y="2938462"/>
            <a:ext cx="400889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Plus Jakarta Sans"/>
              </a:rPr>
              <a:t>Attendance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725" y="3224212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Unreliable clock-in logs without automated overtime tracking.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9875" y="2938462"/>
            <a:ext cx="39021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Plus Jakarta Sans"/>
              </a:rPr>
              <a:t>Leave Approval 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9875" y="3224212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Opaque email chains causing delayed sign-offs and balance confusion.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4652962"/>
            <a:ext cx="400870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Plus Jakarta Sans"/>
              </a:rPr>
              <a:t>Payroll Calculation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4938712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Manual deductions, allowances, and tax math triggering discrepancy.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8725" y="4652962"/>
            <a:ext cx="400889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Plus Jakarta Sans"/>
              </a:rPr>
              <a:t>Isolated Data Silos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8725" y="4938712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Lack of centralized repository preventing cross-department access.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9875" y="4652962"/>
            <a:ext cx="39021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Plus Jakarta Sans"/>
              </a:rPr>
              <a:t>Slow Report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9875" y="4938712"/>
            <a:ext cx="3149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Days wasted collating manual metrics for executive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99184"/>
            <a:ext cx="2600325" cy="1955006"/>
          </a:xfrm>
          <a:prstGeom prst="roundRect">
            <a:avLst>
              <a:gd name="adj" fmla="val 58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2999184"/>
            <a:ext cx="2600325" cy="1955006"/>
          </a:xfrm>
          <a:prstGeom prst="roundRect">
            <a:avLst>
              <a:gd name="adj" fmla="val 58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999184"/>
            <a:ext cx="2600325" cy="1955006"/>
          </a:xfrm>
          <a:prstGeom prst="roundRect">
            <a:avLst>
              <a:gd name="adj" fmla="val 58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2999184"/>
            <a:ext cx="2600325" cy="1955006"/>
          </a:xfrm>
          <a:prstGeom prst="roundRect">
            <a:avLst>
              <a:gd name="adj" fmla="val 58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04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3738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GOALS &amp;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66750"/>
            <a:ext cx="392549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275409"/>
            <a:ext cx="60960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563EB"/>
                </a:solidFill>
                <a:latin typeface="JetBrain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742134"/>
            <a:ext cx="12801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Centralize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056459"/>
            <a:ext cx="22955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Single source of truth for employee bios, documents, and department mapping.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3275409"/>
            <a:ext cx="60960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JetBrain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2134"/>
            <a:ext cx="127015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Automate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056459"/>
            <a:ext cx="22955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Streamline daily attendance check-ins, leave quotas, and payslip computation.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75409"/>
            <a:ext cx="60960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6A34A"/>
                </a:solidFill>
                <a:latin typeface="JetBrains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3742134"/>
            <a:ext cx="158769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Secure RBAC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4056459"/>
            <a:ext cx="22955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Multi-tier authorization guarding confidential salary and personnel records.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2100" y="3275409"/>
            <a:ext cx="60960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9333EA"/>
                </a:solidFill>
                <a:latin typeface="JetBrains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2100" y="3742134"/>
            <a:ext cx="176272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Audit &amp;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2100" y="4056459"/>
            <a:ext cx="22955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Real-time dashboards and instant PDF/Excel exports for management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47925"/>
            <a:ext cx="10972800" cy="485775"/>
          </a:xfrm>
          <a:prstGeom prst="roundRect">
            <a:avLst>
              <a:gd name="adj" fmla="val 1960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162300"/>
            <a:ext cx="2628900" cy="1057275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90900" y="3162300"/>
            <a:ext cx="2628900" cy="1057275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3162300"/>
            <a:ext cx="2628900" cy="1057275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53500" y="3162300"/>
            <a:ext cx="2628900" cy="1057275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4371975"/>
            <a:ext cx="2628900" cy="1057275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90900" y="4371975"/>
            <a:ext cx="2628900" cy="1057275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4371975"/>
            <a:ext cx="2628900" cy="1057275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53500" y="4371975"/>
            <a:ext cx="262890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595562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0" y="4600575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362325"/>
            <a:ext cx="1714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0925" y="3362325"/>
            <a:ext cx="2190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3362325"/>
            <a:ext cx="23812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3525" y="3362325"/>
            <a:ext cx="23812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572000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0925" y="4572000"/>
            <a:ext cx="1428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4572000"/>
            <a:ext cx="219075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05 /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57200"/>
            <a:ext cx="7060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SOLUTION BLUEPRINT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66750"/>
            <a:ext cx="7413426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Proposed Web-Based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1275" y="2605087"/>
            <a:ext cx="142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ZERO REDUNDANCY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525" y="2590800"/>
            <a:ext cx="7477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Plus Jakarta Sans"/>
              </a:rPr>
              <a:t>Transition from spreadsheet silos to an asynchronous REST-driven SPA ecosystem.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3638550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Auth &amp; RBAC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3886200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JWT token auth with route guards.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0925" y="3638550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Employee Directory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0925" y="3886200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Full lifecycle and onboarding CRUD.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2225" y="3638550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Departments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2225" y="3886200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Designation &amp; hierarchy structure.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525" y="3638550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Attendance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525" y="3886200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Daily check-in, check-out &amp; logs.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4848225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Leave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625" y="5095875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Application, balance &amp; approvals.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90925" y="4848225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Payroll Processing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0925" y="5095875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Salary slips, taxes &amp; net pay math.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2225" y="4848225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Analytics &amp;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2225" y="5095875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Visual trends and tabular export.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9103" y="4848225"/>
            <a:ext cx="153769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Plus Jakarta Sans"/>
              </a:rPr>
              <a:t>Unified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80934" y="5048250"/>
            <a:ext cx="17740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Enterprise TLS &amp; BCrypt.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9125" y="2928937"/>
            <a:ext cx="16610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0195" y="2928937"/>
            <a:ext cx="23840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664273" y="2928937"/>
            <a:ext cx="2266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31223" y="2928937"/>
            <a:ext cx="46416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719637"/>
            <a:ext cx="1809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310062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900487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490912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081337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490912"/>
            <a:ext cx="1428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900487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310062"/>
            <a:ext cx="14287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719637"/>
            <a:ext cx="18097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5129212"/>
            <a:ext cx="123825" cy="142875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9600" y="2471737"/>
          <a:ext cx="10953748" cy="2933700"/>
        </p:xfrm>
        <a:graphic>
          <a:graphicData uri="http://schemas.openxmlformats.org/drawingml/2006/table">
            <a:tbl>
              <a:tblPr/>
              <a:tblGrid>
                <a:gridCol w="166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1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Domain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Version /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Primary Responsibility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Frontend SPA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Angular &amp; TypeScript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JetBrains Mono"/>
                        </a:rPr>
                        <a:t>Angular 17 / TS 5.x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Reactive forms, router guards, stateful components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Backend Core</a:t>
                      </a:r>
                    </a:p>
                  </a:txBody>
                  <a:tcPr marL="3333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Spring Boot &amp; Java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JetBrains Mono"/>
                        </a:rPr>
                        <a:t>Spring Boot 3 / Java 17+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REST API controllers, business logic &amp; IOC container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Persistence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Spring Data JPA &amp; Hibernate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JetBrains Mono"/>
                        </a:rPr>
                        <a:t>Hibernate 6.x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ORM entity mapping, repository queries, transaction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Database</a:t>
                      </a:r>
                    </a:p>
                  </a:txBody>
                  <a:tcPr marL="3333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MySQL 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JetBrains Mono"/>
                        </a:rPr>
                        <a:t>MySQL 8.0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ACID relational storage, foreign key constraints &amp; indexing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F46E5"/>
                          </a:solidFill>
                          <a:latin typeface="Plus Jakarta Sans"/>
                        </a:rPr>
                        <a:t>Protocol</a:t>
                      </a:r>
                    </a:p>
                  </a:txBody>
                  <a:tcPr marL="3714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RESTful Web Services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JetBrains Mono"/>
                        </a:rPr>
                        <a:t>JSON / HTTP 1.1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Stateless client-server exchange with standard status codes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Tooling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Maven &amp; Git / GitHub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JetBrains Mono"/>
                        </a:rPr>
                        <a:t>Maven 3.9 / Git 2.x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Build automation, dependency resolution &amp; source revision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06 /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57200"/>
            <a:ext cx="3536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TOOLING &amp;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66750"/>
            <a:ext cx="3712964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Technology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28912"/>
            <a:ext cx="1443335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395835" y="2728912"/>
            <a:ext cx="1682501" cy="1095375"/>
          </a:xfrm>
          <a:prstGeom prst="roundRect">
            <a:avLst>
              <a:gd name="adj" fmla="val 8695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21237" y="2728912"/>
            <a:ext cx="1443335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07472" y="2728912"/>
            <a:ext cx="1802159" cy="1095375"/>
          </a:xfrm>
          <a:prstGeom prst="roundRect">
            <a:avLst>
              <a:gd name="adj" fmla="val 8695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52532" y="2728912"/>
            <a:ext cx="1443335" cy="1095375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38767" y="2728912"/>
            <a:ext cx="1443335" cy="1095375"/>
          </a:xfrm>
          <a:prstGeom prst="roundRect">
            <a:avLst>
              <a:gd name="adj" fmla="val 8695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090987"/>
            <a:ext cx="35305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30600" y="4090987"/>
            <a:ext cx="3530649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51750" y="4090987"/>
            <a:ext cx="35305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4090987"/>
            <a:ext cx="38100" cy="10572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0600" y="4090987"/>
            <a:ext cx="38100" cy="10572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51750" y="4090987"/>
            <a:ext cx="38100" cy="10572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185" y="3205162"/>
            <a:ext cx="1524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587" y="3205162"/>
            <a:ext cx="1524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822" y="3205162"/>
            <a:ext cx="15240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882" y="3205162"/>
            <a:ext cx="15240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117" y="3205162"/>
            <a:ext cx="15240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255" y="2947987"/>
            <a:ext cx="200025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999" y="2947987"/>
            <a:ext cx="20002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8604" y="2947987"/>
            <a:ext cx="22860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4177" y="2947987"/>
            <a:ext cx="2286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5612" y="2947987"/>
            <a:ext cx="257175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0422" y="2947987"/>
            <a:ext cx="200025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07 / 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457200"/>
            <a:ext cx="6929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HIGH-LEVEL TOPOLOGY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66750"/>
            <a:ext cx="7275909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Client-Server System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599" y="3252787"/>
            <a:ext cx="156933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Client Browser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964" y="3490912"/>
            <a:ext cx="14946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Admin / HR / Staff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95464" y="3252787"/>
            <a:ext cx="18832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3A8A"/>
                </a:solidFill>
                <a:latin typeface="Plus Jakarta Sans"/>
              </a:rPr>
              <a:t>Angular 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40303" y="3490912"/>
            <a:ext cx="179356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40AF"/>
                </a:solidFill>
                <a:latin typeface="Plus Jakarta Sans"/>
              </a:rPr>
              <a:t>UI + RxJS Http Client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8236" y="3252787"/>
            <a:ext cx="156933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REST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5601" y="3490912"/>
            <a:ext cx="14946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JSON / HTTPS / JWT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8405" y="3252787"/>
            <a:ext cx="20402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4532D"/>
                </a:solidFill>
                <a:latin typeface="Plus Jakarta Sans"/>
              </a:rPr>
              <a:t>Spring Boot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6983" y="3490912"/>
            <a:ext cx="19431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5803D"/>
                </a:solidFill>
                <a:latin typeface="Plus Jakarta Sans"/>
              </a:rPr>
              <a:t>Controller &amp; Service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9531" y="3252787"/>
            <a:ext cx="156933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Repository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6896" y="3490912"/>
            <a:ext cx="14946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Hibernate 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75766" y="3252787"/>
            <a:ext cx="156933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7C2D12"/>
                </a:solidFill>
                <a:latin typeface="Plus Jakarta Sans"/>
              </a:rPr>
              <a:t>MySQL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13131" y="3490912"/>
            <a:ext cx="14946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2410C"/>
                </a:solidFill>
                <a:latin typeface="Plus Jakarta Sans"/>
              </a:rPr>
              <a:t>Tables &amp; Indices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" y="4243387"/>
            <a:ext cx="418372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Plus Jakarta Sans"/>
              </a:rPr>
              <a:t>Presentation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" y="4481512"/>
            <a:ext cx="3282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Angular SPA captures user actions, validates forms client-side, and communicates over asynchronous HTTP channels.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1100" y="4243387"/>
            <a:ext cx="418392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4532D"/>
                </a:solidFill>
                <a:latin typeface="Plus Jakarta Sans"/>
              </a:rPr>
              <a:t>Business Logic 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1100" y="4481512"/>
            <a:ext cx="328299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Spring Boot handles transactional logic, payroll formulas, leave calculations, and role-based token validation.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2250" y="4243387"/>
            <a:ext cx="39497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C2D12"/>
                </a:solidFill>
                <a:latin typeface="Plus Jakarta Sans"/>
              </a:rPr>
              <a:t>Data Access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2250" y="4481512"/>
            <a:ext cx="3282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Spring Data JPA maps POJO models to relational tables, executing optimized SQL queries with connection pooling.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05062"/>
            <a:ext cx="2614612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5662" y="2405062"/>
            <a:ext cx="2614612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81725" y="2405062"/>
            <a:ext cx="2614612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7787" y="2405062"/>
            <a:ext cx="2614612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4110037"/>
            <a:ext cx="2614612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95662" y="4110037"/>
            <a:ext cx="2614612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81725" y="4110037"/>
            <a:ext cx="2614612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7787" y="4110037"/>
            <a:ext cx="2614612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2624137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637" y="2624137"/>
            <a:ext cx="26670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0" y="2624137"/>
            <a:ext cx="2381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8762" y="2624137"/>
            <a:ext cx="18097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4329112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6637" y="4329112"/>
            <a:ext cx="2381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2700" y="4329112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8762" y="4329112"/>
            <a:ext cx="180975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08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4345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FUNCTIONAL DECOMPOSITION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66750"/>
            <a:ext cx="456307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Core System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575" y="2928937"/>
            <a:ext cx="295661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Admin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" y="3205162"/>
            <a:ext cx="23479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Global configurations, role assignments, and full system audits.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6637" y="2928937"/>
            <a:ext cx="295661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HR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6637" y="3205162"/>
            <a:ext cx="23479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Employee onboarding, department transfers, and policy setup.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2700" y="2928937"/>
            <a:ext cx="295661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Employee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3205162"/>
            <a:ext cx="23479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Personal credentials, emergency contacts, and job records.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8762" y="2928937"/>
            <a:ext cx="295661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Attendance 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8762" y="3205162"/>
            <a:ext cx="234791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Automated timestamps, work duration math, and monthly log summaries.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" y="4633912"/>
            <a:ext cx="295661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Leave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575" y="4910137"/>
            <a:ext cx="23479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Sick, paid, and casual leave quotas with dual approval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6637" y="4633912"/>
            <a:ext cx="295661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Payroll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6637" y="4910137"/>
            <a:ext cx="23479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Salary structure, automated tax deductions, and PDF payslip builder.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2700" y="4633912"/>
            <a:ext cx="295661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Reports &amp; 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2700" y="4910137"/>
            <a:ext cx="23479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Turnover metrics, leave utilization charts, and exportable CSVs.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8762" y="4633912"/>
            <a:ext cx="295661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Alerts (if impl.)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8762" y="4910137"/>
            <a:ext cx="23479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In-app status triggers and leave approval notifications.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2000" y="2414587"/>
            <a:ext cx="5340399" cy="304800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333625"/>
            <a:ext cx="5327600" cy="981075"/>
          </a:xfrm>
          <a:prstGeom prst="roundRect">
            <a:avLst>
              <a:gd name="adj" fmla="val 9708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448050"/>
            <a:ext cx="5327600" cy="981075"/>
          </a:xfrm>
          <a:prstGeom prst="roundRect">
            <a:avLst>
              <a:gd name="adj" fmla="val 970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562475"/>
            <a:ext cx="5327600" cy="981075"/>
          </a:xfrm>
          <a:prstGeom prst="roundRect">
            <a:avLst>
              <a:gd name="adj" fmla="val 9708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61075" y="3052762"/>
            <a:ext cx="4902249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61075" y="2909887"/>
            <a:ext cx="49022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61075" y="3633787"/>
            <a:ext cx="4902249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61075" y="4214812"/>
            <a:ext cx="4902249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61075" y="4795837"/>
            <a:ext cx="4902249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37075" y="2519362"/>
            <a:ext cx="819150" cy="209550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37100" y="3633787"/>
            <a:ext cx="619125" cy="209550"/>
          </a:xfrm>
          <a:prstGeom prst="roundRect">
            <a:avLst>
              <a:gd name="adj" fmla="val 18181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37050" y="4748212"/>
            <a:ext cx="1019175" cy="209550"/>
          </a:xfrm>
          <a:prstGeom prst="roundRect">
            <a:avLst>
              <a:gd name="adj" fmla="val 18181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2552700"/>
            <a:ext cx="1905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3667125"/>
            <a:ext cx="219075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4781550"/>
            <a:ext cx="15240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09 /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57200"/>
            <a:ext cx="6572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SECURITY &amp; ACCESS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66750"/>
            <a:ext cx="6900862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User Roles &amp; Authentication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075" y="2633662"/>
            <a:ext cx="5247374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JWT Authentication 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575" y="2790825"/>
            <a:ext cx="50609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Full platform oversight: user provisioning, security policies, system configuration, and audit logs.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" y="3905250"/>
            <a:ext cx="50609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Operational management: employee onboarding, leave review, attendance adjustments, and payroll generation.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575" y="5019675"/>
            <a:ext cx="50609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Self-service portal: profile inspection, attendance clock-in, leave application, and payslip downloads.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3950" y="3176587"/>
            <a:ext cx="38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3500" y="3190875"/>
            <a:ext cx="4381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User submits credentials via Angular Reactive Login 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3950" y="3757612"/>
            <a:ext cx="38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3500" y="3771900"/>
            <a:ext cx="4179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Spring Security validates BCrypt hash from MySQL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3950" y="4338637"/>
            <a:ext cx="38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3500" y="4352925"/>
            <a:ext cx="4036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Server signs and issues JWT containing roles &amp; expiry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3950" y="4919662"/>
            <a:ext cx="38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3500" y="4933950"/>
            <a:ext cx="4822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Angular HTTP Interceptor attaches Bearer token to all requests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575" y="2514600"/>
            <a:ext cx="1950243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Administrator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3275" y="2547937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JetBrains Mono"/>
              </a:rPr>
              <a:t>ROLE_ADMIN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575" y="3629025"/>
            <a:ext cx="1762720" cy="2190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4532D"/>
                </a:solidFill>
                <a:latin typeface="Plus Jakarta Sans"/>
              </a:rPr>
              <a:t>HR Manager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3300" y="3662362"/>
            <a:ext cx="561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JetBrains Mono"/>
              </a:rPr>
              <a:t>ROLE_HR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575" y="4743450"/>
            <a:ext cx="2550318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581C87"/>
                </a:solidFill>
                <a:latin typeface="Plus Jakarta Sans"/>
              </a:rPr>
              <a:t>Standard Employee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3250" y="4776787"/>
            <a:ext cx="962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JetBrains Mono"/>
              </a:rPr>
              <a:t>ROLE_EMPLOYEE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72250" y="2587079"/>
            <a:ext cx="5010150" cy="2702867"/>
          </a:xfrm>
          <a:prstGeom prst="roundRect">
            <a:avLst>
              <a:gd name="adj" fmla="val 422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786062"/>
            <a:ext cx="2752725" cy="1076325"/>
          </a:xfrm>
          <a:prstGeom prst="roundRect">
            <a:avLst>
              <a:gd name="adj" fmla="val 88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14725" y="2786062"/>
            <a:ext cx="2752725" cy="1076325"/>
          </a:xfrm>
          <a:prstGeom prst="roundRect">
            <a:avLst>
              <a:gd name="adj" fmla="val 88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14787"/>
            <a:ext cx="2752725" cy="1076325"/>
          </a:xfrm>
          <a:prstGeom prst="roundRect">
            <a:avLst>
              <a:gd name="adj" fmla="val 88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14725" y="4014787"/>
            <a:ext cx="2752725" cy="1076325"/>
          </a:xfrm>
          <a:prstGeom prst="roundRect">
            <a:avLst>
              <a:gd name="adj" fmla="val 88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62750" y="3032819"/>
            <a:ext cx="46291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976562"/>
            <a:ext cx="1714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2976562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205287"/>
            <a:ext cx="1143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6650" y="4205287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10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648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D0031"/>
                </a:solidFill>
                <a:latin typeface="Plus Jakarta Sans"/>
              </a:rPr>
              <a:t>FRONTEND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66750"/>
            <a:ext cx="6813351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Angular Architecture &amp;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2777579"/>
            <a:ext cx="5429250" cy="2076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1" i="0" u="none">
                <a:solidFill>
                  <a:srgbClr val="38BDF8"/>
                </a:solidFill>
                <a:latin typeface="JetBrains Mono"/>
              </a:rPr>
              <a:t>src/app/ (Angular Workspace)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3118544"/>
            <a:ext cx="542925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JetBrains Mono"/>
              </a:rPr>
              <a:t>├── </a:t>
            </a:r>
            <a:r>
              <a:rPr sz="975" b="0" i="0" u="none">
                <a:solidFill>
                  <a:srgbClr val="FCD34D"/>
                </a:solidFill>
                <a:latin typeface="JetBrains Mono"/>
              </a:rPr>
              <a:t>core/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(guards, interceptors, services)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3316634"/>
            <a:ext cx="542925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JetBrains Mono"/>
              </a:rPr>
              <a:t>│ ├── </a:t>
            </a:r>
            <a:r>
              <a:rPr sz="975" b="0" i="0" u="none">
                <a:solidFill>
                  <a:srgbClr val="93C5FD"/>
                </a:solidFill>
                <a:latin typeface="JetBrains Mono"/>
              </a:rPr>
              <a:t>auth.guard.ts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0" y="3514725"/>
            <a:ext cx="542925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JetBrains Mono"/>
              </a:rPr>
              <a:t>│ └── </a:t>
            </a:r>
            <a:r>
              <a:rPr sz="975" b="0" i="0" u="none">
                <a:solidFill>
                  <a:srgbClr val="93C5FD"/>
                </a:solidFill>
                <a:latin typeface="JetBrains Mono"/>
              </a:rPr>
              <a:t>jwt.interceptor.ts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0" y="3712815"/>
            <a:ext cx="542925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JetBrains Mono"/>
              </a:rPr>
              <a:t>├── </a:t>
            </a:r>
            <a:r>
              <a:rPr sz="975" b="0" i="0" u="none">
                <a:solidFill>
                  <a:srgbClr val="FCD34D"/>
                </a:solidFill>
                <a:latin typeface="JetBrains Mono"/>
              </a:rPr>
              <a:t>modules/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(feature domains)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0" y="3910905"/>
            <a:ext cx="542925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JetBrains Mono"/>
              </a:rPr>
              <a:t>│ ├── </a:t>
            </a:r>
            <a:r>
              <a:rPr sz="975" b="0" i="0" u="none">
                <a:solidFill>
                  <a:srgbClr val="A7F3D0"/>
                </a:solidFill>
                <a:latin typeface="JetBrains Mono"/>
              </a:rPr>
              <a:t>admin/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(user management)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0" y="4108995"/>
            <a:ext cx="542925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JetBrains Mono"/>
              </a:rPr>
              <a:t>│ ├── </a:t>
            </a:r>
            <a:r>
              <a:rPr sz="975" b="0" i="0" u="none">
                <a:solidFill>
                  <a:srgbClr val="A7F3D0"/>
                </a:solidFill>
                <a:latin typeface="JetBrains Mono"/>
              </a:rPr>
              <a:t>attendance/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(timesheet logs)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0" y="4307085"/>
            <a:ext cx="542925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JetBrains Mono"/>
              </a:rPr>
              <a:t>│ ├── </a:t>
            </a:r>
            <a:r>
              <a:rPr sz="975" b="0" i="0" u="none">
                <a:solidFill>
                  <a:srgbClr val="A7F3D0"/>
                </a:solidFill>
                <a:latin typeface="JetBrains Mono"/>
              </a:rPr>
              <a:t>leave/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(request &amp; approvals)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0" y="4505176"/>
            <a:ext cx="542925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JetBrains Mono"/>
              </a:rPr>
              <a:t>│ └── </a:t>
            </a:r>
            <a:r>
              <a:rPr sz="975" b="0" i="0" u="none">
                <a:solidFill>
                  <a:srgbClr val="A7F3D0"/>
                </a:solidFill>
                <a:latin typeface="JetBrains Mono"/>
              </a:rPr>
              <a:t>payroll/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(salary computation)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2750" y="4703266"/>
            <a:ext cx="542925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JetBrains Mono"/>
              </a:rPr>
              <a:t>├── </a:t>
            </a:r>
            <a:r>
              <a:rPr sz="975" b="0" i="0" u="none">
                <a:solidFill>
                  <a:srgbClr val="FCD34D"/>
                </a:solidFill>
                <a:latin typeface="JetBrains Mono"/>
              </a:rPr>
              <a:t>shared/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(navbar, sidebar, tables)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2750" y="4901356"/>
            <a:ext cx="542925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JetBrains Mono"/>
              </a:rPr>
              <a:t>└── </a:t>
            </a:r>
            <a:r>
              <a:rPr sz="975" b="0" i="0" u="none">
                <a:solidFill>
                  <a:srgbClr val="93C5FD"/>
                </a:solidFill>
                <a:latin typeface="JetBrains Mono"/>
              </a:rPr>
              <a:t>app-routing.module.ts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2947987"/>
            <a:ext cx="3187898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D0031"/>
                </a:solidFill>
                <a:latin typeface="Plus Jakarta Sans"/>
              </a:rPr>
              <a:t>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25" y="3186112"/>
            <a:ext cx="25241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Modular UI logic divided into feature blocks with scoped SCSS styling.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6650" y="2947987"/>
            <a:ext cx="3187898" cy="20002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D0031"/>
                </a:solidFill>
                <a:latin typeface="Plus Jakarta Sans"/>
              </a:rPr>
              <a:t>Auth Guards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6650" y="3186112"/>
            <a:ext cx="2524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CanActivate guards preventing unauthorized URL tampering and role violations.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525" y="4176712"/>
            <a:ext cx="3187898" cy="20002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D0031"/>
                </a:solidFill>
                <a:latin typeface="Plus Jakarta Sans"/>
              </a:rPr>
              <a:t>Services &amp; DI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525" y="4414837"/>
            <a:ext cx="2524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Singleton injectable services encapsulating HttpClient and API transactions.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6650" y="4176712"/>
            <a:ext cx="3187898" cy="20002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D0031"/>
                </a:solidFill>
                <a:latin typeface="Plus Jakarta Sans"/>
              </a:rPr>
              <a:t>Reactive Forms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6650" y="4414837"/>
            <a:ext cx="2524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Robust client-side validation for employee enrollment, leaves and payroll.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509045"/>
            <a:ext cx="10972800" cy="542925"/>
          </a:xfrm>
          <a:prstGeom prst="roundRect">
            <a:avLst>
              <a:gd name="adj" fmla="val 175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825204"/>
            <a:ext cx="2628900" cy="1455241"/>
          </a:xfrm>
          <a:prstGeom prst="roundRect">
            <a:avLst>
              <a:gd name="adj" fmla="val 654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90900" y="2825204"/>
            <a:ext cx="2628900" cy="1455241"/>
          </a:xfrm>
          <a:prstGeom prst="roundRect">
            <a:avLst>
              <a:gd name="adj" fmla="val 6545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2825204"/>
            <a:ext cx="2628900" cy="1455241"/>
          </a:xfrm>
          <a:prstGeom prst="roundRect">
            <a:avLst>
              <a:gd name="adj" fmla="val 6545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53500" y="2825204"/>
            <a:ext cx="2628900" cy="1455241"/>
          </a:xfrm>
          <a:prstGeom prst="roundRect">
            <a:avLst>
              <a:gd name="adj" fmla="val 6545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4694783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325" y="4694783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900" y="4694783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6075" y="3025229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275" y="3025229"/>
            <a:ext cx="1905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25" y="3025229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9975" y="3025229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11 /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6310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BACKEND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66750"/>
            <a:ext cx="6625828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Spring Boot Server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253829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Controller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3520529"/>
            <a:ext cx="23241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Exposes endpoints, validates incoming DTOs via @Valid, returns ResponseEntity.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0925" y="3253829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Service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0925" y="3520529"/>
            <a:ext cx="23241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Implements business algorithms, leave eligibility, payroll logic, and @Transactional boundaries.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5" y="3253829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Data 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225" y="3520529"/>
            <a:ext cx="23241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Extends JpaRepository to execute optimized pagination, filtering, and JPQL queries.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525" y="3253829"/>
            <a:ext cx="292536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Entity &amp;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525" y="3520529"/>
            <a:ext cx="23241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Hibernate ORM mapping with ModelMapper/MapStruct for clean data transfer separation.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8750" y="4690020"/>
            <a:ext cx="4012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Global Exception Handler (@ControllerAdvice)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4025" y="4690020"/>
            <a:ext cx="3202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Spring Security + Stateless JWT 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2550" y="4690020"/>
            <a:ext cx="2571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Hibernate Bean Validation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3025229"/>
            <a:ext cx="1285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JetBrains Mono"/>
              </a:rPr>
              <a:t>@RestController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0925" y="3025229"/>
            <a:ext cx="8191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A34A"/>
                </a:solidFill>
                <a:latin typeface="JetBrains Mono"/>
              </a:rPr>
              <a:t>@Service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2225" y="3025229"/>
            <a:ext cx="10191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JetBrains Mono"/>
              </a:rPr>
              <a:t>@Repository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525" y="3025229"/>
            <a:ext cx="11525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A580C"/>
                </a:solidFill>
                <a:latin typeface="JetBrains Mono"/>
              </a:rPr>
              <a:t>@Entity &amp; DTO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92089"/>
            <a:ext cx="3530500" cy="1654968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600" y="2192089"/>
            <a:ext cx="3530649" cy="1654968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750" y="2192089"/>
            <a:ext cx="3530500" cy="1654968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37558"/>
            <a:ext cx="3530500" cy="1647378"/>
          </a:xfrm>
          <a:prstGeom prst="roundRect">
            <a:avLst>
              <a:gd name="adj" fmla="val 57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30600" y="4037558"/>
            <a:ext cx="3530649" cy="1647378"/>
          </a:xfrm>
          <a:prstGeom prst="roundRect">
            <a:avLst>
              <a:gd name="adj" fmla="val 57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51750" y="4037558"/>
            <a:ext cx="3530500" cy="1647378"/>
          </a:xfrm>
          <a:prstGeom prst="roundRect">
            <a:avLst>
              <a:gd name="adj" fmla="val 57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2201614"/>
            <a:ext cx="3511450" cy="3333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0125" y="2201614"/>
            <a:ext cx="3511599" cy="3333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61275" y="2201614"/>
            <a:ext cx="3511450" cy="3333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" y="4047083"/>
            <a:ext cx="3511450" cy="3333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0125" y="4047083"/>
            <a:ext cx="3511599" cy="33337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1275" y="4047083"/>
            <a:ext cx="3511450" cy="3333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12 /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7739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RELATIONAL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66750"/>
            <a:ext cx="8126015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Database Design &amp; Entity Relationships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2277814"/>
            <a:ext cx="1190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users &amp;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7200" y="2277814"/>
            <a:ext cx="2952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JetBrains Mono"/>
              </a:rPr>
              <a:t>M:N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75" y="2649289"/>
            <a:ext cx="4055938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2563EB"/>
                </a:solidFill>
                <a:latin typeface="JetBrains Mono"/>
              </a:rPr>
              <a:t>PK</a:t>
            </a:r>
            <a:r>
              <a:rPr sz="1050" b="0" i="0" u="none">
                <a:solidFill>
                  <a:srgbClr val="334155"/>
                </a:solidFill>
                <a:latin typeface="JetBrains Mono"/>
              </a:rPr>
              <a:t> id: BIGINT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2862560"/>
            <a:ext cx="4055938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username: VARCHAR(50)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" y="3075830"/>
            <a:ext cx="4055938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password_hash: VARCHAR(255)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" y="3289101"/>
            <a:ext cx="4055938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D97706"/>
                </a:solidFill>
                <a:latin typeface="JetBrains Mono"/>
              </a:rPr>
              <a:t>FK</a:t>
            </a:r>
            <a:r>
              <a:rPr sz="1050" b="0" i="0" u="none">
                <a:solidFill>
                  <a:srgbClr val="334155"/>
                </a:solidFill>
                <a:latin typeface="JetBrains Mono"/>
              </a:rPr>
              <a:t> role_id: 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" y="3540472"/>
            <a:ext cx="4055938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16A34A"/>
                </a:solidFill>
                <a:latin typeface="JetBrains Mono"/>
              </a:rPr>
              <a:t>→ Connects to employee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3475" y="2277814"/>
            <a:ext cx="1762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employees (Master)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8350" y="2277814"/>
            <a:ext cx="2952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JetBrains Mono"/>
              </a:rPr>
              <a:t>1:N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3475" y="2649289"/>
            <a:ext cx="405612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2563EB"/>
                </a:solidFill>
                <a:latin typeface="JetBrains Mono"/>
              </a:rPr>
              <a:t>PK</a:t>
            </a:r>
            <a:r>
              <a:rPr sz="1050" b="0" i="0" u="none">
                <a:solidFill>
                  <a:srgbClr val="334155"/>
                </a:solidFill>
                <a:latin typeface="JetBrains Mono"/>
              </a:rPr>
              <a:t> employee_id: BIGINT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3475" y="2862560"/>
            <a:ext cx="405612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first_name, last_name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3475" y="3075830"/>
            <a:ext cx="405612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email: VARCHAR(100) UNIQUE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3475" y="3289101"/>
            <a:ext cx="405612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D97706"/>
                </a:solidFill>
                <a:latin typeface="JetBrains Mono"/>
              </a:rPr>
              <a:t>FK</a:t>
            </a:r>
            <a:r>
              <a:rPr sz="1050" b="0" i="0" u="none">
                <a:solidFill>
                  <a:srgbClr val="334155"/>
                </a:solidFill>
                <a:latin typeface="JetBrains Mono"/>
              </a:rPr>
              <a:t> department_id: 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3475" y="3502372"/>
            <a:ext cx="405612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joining_date, basic_salary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4625" y="2277814"/>
            <a:ext cx="1200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departments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39351" y="2277814"/>
            <a:ext cx="2952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JetBrains Mono"/>
              </a:rPr>
              <a:t>1:M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4625" y="2649289"/>
            <a:ext cx="399737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2563EB"/>
                </a:solidFill>
                <a:latin typeface="JetBrains Mono"/>
              </a:rPr>
              <a:t>PK</a:t>
            </a:r>
            <a:r>
              <a:rPr sz="1050" b="0" i="0" u="none">
                <a:solidFill>
                  <a:srgbClr val="334155"/>
                </a:solidFill>
                <a:latin typeface="JetBrains Mono"/>
              </a:rPr>
              <a:t> dept_id: 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4625" y="2862560"/>
            <a:ext cx="399737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name: VARCHAR(100)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4625" y="3075830"/>
            <a:ext cx="399737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location: VARCHAR(100)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4625" y="3289101"/>
            <a:ext cx="399737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D97706"/>
                </a:solidFill>
                <a:latin typeface="JetBrains Mono"/>
              </a:rPr>
              <a:t>FK</a:t>
            </a:r>
            <a:r>
              <a:rPr sz="1050" b="0" i="0" u="none">
                <a:solidFill>
                  <a:srgbClr val="334155"/>
                </a:solidFill>
                <a:latin typeface="JetBrains Mono"/>
              </a:rPr>
              <a:t> manager_id: BIGINT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4625" y="3540472"/>
            <a:ext cx="3997374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64748B"/>
                </a:solidFill>
                <a:latin typeface="JetBrains Mono"/>
              </a:rPr>
              <a:t>→ Maps employee hierarchy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475" y="4123283"/>
            <a:ext cx="1095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attendance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200" y="4123283"/>
            <a:ext cx="2952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JetBrains Mono"/>
              </a:rPr>
              <a:t>N:1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475" y="4494758"/>
            <a:ext cx="4055938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2563EB"/>
                </a:solidFill>
                <a:latin typeface="JetBrains Mono"/>
              </a:rPr>
              <a:t>PK</a:t>
            </a:r>
            <a:r>
              <a:rPr sz="1050" b="0" i="0" u="none">
                <a:solidFill>
                  <a:srgbClr val="334155"/>
                </a:solidFill>
                <a:latin typeface="JetBrains Mono"/>
              </a:rPr>
              <a:t> attendance_id: BIGINT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475" y="4708028"/>
            <a:ext cx="4055938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D97706"/>
                </a:solidFill>
                <a:latin typeface="JetBrains Mono"/>
              </a:rPr>
              <a:t>FK</a:t>
            </a:r>
            <a:r>
              <a:rPr sz="1050" b="0" i="0" u="none">
                <a:solidFill>
                  <a:srgbClr val="334155"/>
                </a:solidFill>
                <a:latin typeface="JetBrains Mono"/>
              </a:rPr>
              <a:t> employee_id: BIGINT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475" y="4921299"/>
            <a:ext cx="4055938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date: 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2475" y="5134570"/>
            <a:ext cx="4055938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check_in, check_out: 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2475" y="5347841"/>
            <a:ext cx="4055938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status: ENUM('PRESENT', ...)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73475" y="4123283"/>
            <a:ext cx="733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leaves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8350" y="4123283"/>
            <a:ext cx="2952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JetBrains Mono"/>
              </a:rPr>
              <a:t>N:1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73475" y="4494758"/>
            <a:ext cx="405612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2563EB"/>
                </a:solidFill>
                <a:latin typeface="JetBrains Mono"/>
              </a:rPr>
              <a:t>PK</a:t>
            </a:r>
            <a:r>
              <a:rPr sz="1050" b="0" i="0" u="none">
                <a:solidFill>
                  <a:srgbClr val="334155"/>
                </a:solidFill>
                <a:latin typeface="JetBrains Mono"/>
              </a:rPr>
              <a:t> leave_id: BIGINT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73475" y="4708028"/>
            <a:ext cx="405612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D97706"/>
                </a:solidFill>
                <a:latin typeface="JetBrains Mono"/>
              </a:rPr>
              <a:t>FK</a:t>
            </a:r>
            <a:r>
              <a:rPr sz="1050" b="0" i="0" u="none">
                <a:solidFill>
                  <a:srgbClr val="334155"/>
                </a:solidFill>
                <a:latin typeface="JetBrains Mono"/>
              </a:rPr>
              <a:t> employee_id: BIGINT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73475" y="4921299"/>
            <a:ext cx="405612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start_date, end_date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73475" y="5134570"/>
            <a:ext cx="405612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leave_type: ENUM('SICK', ...)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73475" y="5347841"/>
            <a:ext cx="405612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status: ENUM('PENDING', ...)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4625" y="4123283"/>
            <a:ext cx="7810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payroll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39351" y="4123283"/>
            <a:ext cx="2952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JetBrains Mono"/>
              </a:rPr>
              <a:t>N:1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4625" y="4494758"/>
            <a:ext cx="399737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2563EB"/>
                </a:solidFill>
                <a:latin typeface="JetBrains Mono"/>
              </a:rPr>
              <a:t>PK</a:t>
            </a:r>
            <a:r>
              <a:rPr sz="1050" b="0" i="0" u="none">
                <a:solidFill>
                  <a:srgbClr val="334155"/>
                </a:solidFill>
                <a:latin typeface="JetBrains Mono"/>
              </a:rPr>
              <a:t> payroll_id: BIGINT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4625" y="4708028"/>
            <a:ext cx="399737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D97706"/>
                </a:solidFill>
                <a:latin typeface="JetBrains Mono"/>
              </a:rPr>
              <a:t>FK</a:t>
            </a:r>
            <a:r>
              <a:rPr sz="1050" b="0" i="0" u="none">
                <a:solidFill>
                  <a:srgbClr val="334155"/>
                </a:solidFill>
                <a:latin typeface="JetBrains Mono"/>
              </a:rPr>
              <a:t> employee_id: BIGINT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94625" y="4921299"/>
            <a:ext cx="399737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salary_month, net_salary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94625" y="5134570"/>
            <a:ext cx="399737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allowances, deductions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4625" y="5347841"/>
            <a:ext cx="3997374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34155"/>
                </a:solidFill>
                <a:latin typeface="JetBrains Mono"/>
              </a:rPr>
              <a:t>payment_status: ENUM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41914" y="2452687"/>
            <a:ext cx="4840485" cy="6000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41914" y="3186112"/>
            <a:ext cx="4840485" cy="6000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41914" y="3919537"/>
            <a:ext cx="4840485" cy="7715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41914" y="4824412"/>
            <a:ext cx="4840485" cy="6000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41914" y="2452687"/>
            <a:ext cx="28575" cy="6000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41914" y="3186112"/>
            <a:ext cx="28575" cy="6000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41914" y="3919537"/>
            <a:ext cx="28575" cy="7715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41914" y="4824412"/>
            <a:ext cx="28575" cy="60007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38337"/>
            <a:ext cx="5827514" cy="400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947862"/>
            <a:ext cx="5808464" cy="398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13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633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USER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66750"/>
            <a:ext cx="6650831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Application Screens &amp; Mockups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889" y="2566987"/>
            <a:ext cx="52691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Executive Analytics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889" y="2767012"/>
            <a:ext cx="526911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Overview of active workforce, present headcount, and pending leaves.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889" y="3300412"/>
            <a:ext cx="52691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Employee Directory &amp;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889" y="3500437"/>
            <a:ext cx="526911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Searchable tabular grid with pagination, modals, and edit forms.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889" y="4033837"/>
            <a:ext cx="52691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Attendance &amp; Leave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889" y="4233862"/>
            <a:ext cx="46023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Daily timecards, leave request submission, and manager approval queues.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889" y="4938712"/>
            <a:ext cx="52691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Payroll &amp; Payslip 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889" y="5138737"/>
            <a:ext cx="526911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Automated tax deductions and clean printable salary slips.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95587"/>
            <a:ext cx="5314950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67450" y="2709862"/>
            <a:ext cx="5314950" cy="2495550"/>
          </a:xfrm>
          <a:prstGeom prst="roundRect">
            <a:avLst>
              <a:gd name="adj" fmla="val 45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48000"/>
            <a:ext cx="209550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2962275"/>
            <a:ext cx="180975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14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7786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VERIFICATION &amp;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66750"/>
            <a:ext cx="8176021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Testing Strategy &amp; Application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033712"/>
            <a:ext cx="276284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Testing Methodologies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462337"/>
            <a:ext cx="63507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Plus Jakarta Sans"/>
              </a:rPr>
              <a:t>Unit Testing (JUnit 5 &amp; Mockito)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62362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Isolated business logic testing of salary formulas and leave calculation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986212"/>
            <a:ext cx="63507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Plus Jakarta Sans"/>
              </a:rPr>
              <a:t>REST API Testing (Postman)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186237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Verification of HTTP response codes (200, 201, 401, 403, 500) and payloads.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510087"/>
            <a:ext cx="63507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Plus Jakarta Sans"/>
              </a:rPr>
              <a:t>Client Validation (Angular Jasmine)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710112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Reactive form state validation, email format checks, and guard routing tests.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2947987"/>
            <a:ext cx="228778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Enterprise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3376612"/>
            <a:ext cx="56864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4532D"/>
                </a:solidFill>
                <a:latin typeface="Plus Jakarta Sans"/>
              </a:rPr>
              <a:t>Stateless JWT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575" y="3576637"/>
            <a:ext cx="5686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Cryptographically signed session tokens stored safely in client memory.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575" y="3900487"/>
            <a:ext cx="56864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4532D"/>
                </a:solidFill>
                <a:latin typeface="Plus Jakarta Sans"/>
              </a:rPr>
              <a:t>Password Hashing (BCrypt)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4100512"/>
            <a:ext cx="4933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Salted one-way cryptographic hashing ensuring passwords are never stored plain.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575" y="4595812"/>
            <a:ext cx="56864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4532D"/>
                </a:solidFill>
                <a:latin typeface="Plus Jakarta Sans"/>
              </a:rPr>
              <a:t>CORS &amp; SQL Injection Shield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575" y="4795837"/>
            <a:ext cx="5686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Strict origin cross-sharing rules and parameterized Hibernate queries.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20400" y="7905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71750"/>
            <a:ext cx="5334000" cy="2771775"/>
          </a:xfrm>
          <a:prstGeom prst="roundRect">
            <a:avLst>
              <a:gd name="adj" fmla="val 412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847975"/>
            <a:ext cx="5334000" cy="2219325"/>
          </a:xfrm>
          <a:prstGeom prst="roundRect">
            <a:avLst>
              <a:gd name="adj" fmla="val 515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05575" y="3514725"/>
            <a:ext cx="23526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72550" y="3514725"/>
            <a:ext cx="23526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05575" y="4219575"/>
            <a:ext cx="23526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72550" y="4219575"/>
            <a:ext cx="23526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2857500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3133725"/>
            <a:ext cx="2000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3276600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3771900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4267200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4762500"/>
            <a:ext cx="1238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450" y="3667125"/>
            <a:ext cx="1333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5425" y="3667125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8450" y="4371975"/>
            <a:ext cx="10477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5425" y="4371975"/>
            <a:ext cx="171450" cy="133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34700" y="847725"/>
            <a:ext cx="62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15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5357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SUMMARY &amp;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66750"/>
            <a:ext cx="5625703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Conclusion &amp; Future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475" y="2828925"/>
            <a:ext cx="6045755" cy="2571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14532D"/>
                </a:solidFill>
                <a:latin typeface="Plus Jakarta Sans"/>
              </a:rPr>
              <a:t>Project Achievements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0850" y="3105150"/>
            <a:ext cx="5391150" cy="2571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1E3A8A"/>
                </a:solidFill>
                <a:latin typeface="Plus Jakarta Sans"/>
              </a:rPr>
              <a:t>Future Enhancements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" y="3238500"/>
            <a:ext cx="46958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Plus Jakarta Sans"/>
              </a:rPr>
              <a:t>80% reduction: in administrative time spent computing paper payroll.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50" y="3733800"/>
            <a:ext cx="46958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Plus Jakarta Sans"/>
              </a:rPr>
              <a:t>Single data hub: elimination of scattered spreadsheets and duplicate records.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5850" y="4229100"/>
            <a:ext cx="46958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Plus Jakarta Sans"/>
              </a:rPr>
              <a:t>Zero trust RBAC: robust role-based protection over sensitive salary profiles.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850" y="4724400"/>
            <a:ext cx="46958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Plus Jakarta Sans"/>
              </a:rPr>
              <a:t>Modular codebase: decoupled architecture ready for enterprise extension.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8450" y="3638550"/>
            <a:ext cx="2583656" cy="1714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Biometric 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450" y="3829050"/>
            <a:ext cx="2583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IoT biometric hardware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5425" y="3638550"/>
            <a:ext cx="2583656" cy="1714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AI HR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5425" y="3829050"/>
            <a:ext cx="2583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Attrition &amp; burnout prediction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8450" y="4343400"/>
            <a:ext cx="2583656" cy="171450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Native Mobile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8450" y="4533900"/>
            <a:ext cx="2583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Flutter/React Native wrapper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5425" y="4343400"/>
            <a:ext cx="2583656" cy="17145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Cloud CI/CD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5425" y="4533900"/>
            <a:ext cx="2583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Docker &amp; AWS ECS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6075" y="4052887"/>
            <a:ext cx="1485900" cy="600075"/>
          </a:xfrm>
          <a:prstGeom prst="roundRect">
            <a:avLst>
              <a:gd name="adj" fmla="val 12698"/>
            </a:avLst>
          </a:prstGeom>
          <a:solidFill>
            <a:srgbClr val="1E2635"/>
          </a:solidFill>
          <a:ln w="9525">
            <a:solidFill>
              <a:srgbClr val="2D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00575" y="4052887"/>
            <a:ext cx="2476500" cy="600075"/>
          </a:xfrm>
          <a:prstGeom prst="roundRect">
            <a:avLst>
              <a:gd name="adj" fmla="val 12698"/>
            </a:avLst>
          </a:prstGeom>
          <a:solidFill>
            <a:srgbClr val="1E2635"/>
          </a:solidFill>
          <a:ln w="9525">
            <a:solidFill>
              <a:srgbClr val="2D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05675" y="4052887"/>
            <a:ext cx="2000250" cy="600075"/>
          </a:xfrm>
          <a:prstGeom prst="roundRect">
            <a:avLst>
              <a:gd name="adj" fmla="val 12698"/>
            </a:avLst>
          </a:prstGeom>
          <a:solidFill>
            <a:srgbClr val="1E2635"/>
          </a:solidFill>
          <a:ln w="9525">
            <a:solidFill>
              <a:srgbClr val="2D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1652587"/>
            <a:ext cx="685800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843087"/>
            <a:ext cx="381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5062537"/>
            <a:ext cx="1333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5625" y="5062537"/>
            <a:ext cx="13335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58257" y="2566987"/>
            <a:ext cx="3875484" cy="714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3312" y="3395662"/>
            <a:ext cx="49053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Questions &amp; Viva Discussion Welcomed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415" y="5033962"/>
            <a:ext cx="3893343" cy="1714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 github.com/student/hr-management-system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5033962"/>
            <a:ext cx="361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1546" y="5033962"/>
            <a:ext cx="2440781" cy="1714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student.team@college.edu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1325" y="4176712"/>
            <a:ext cx="1295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4748B"/>
                </a:solidFill>
                <a:latin typeface="Plus Jakarta Sans"/>
              </a:rPr>
              <a:t>PROJECT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1325" y="4329112"/>
            <a:ext cx="1295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JetBrains Mono"/>
              </a:rPr>
              <a:t>DEMO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668" y="4176712"/>
            <a:ext cx="2500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4748B"/>
                </a:solidFill>
                <a:latin typeface="Plus Jakarta Sans"/>
              </a:rPr>
              <a:t>CODEBASE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8668" y="4329112"/>
            <a:ext cx="2500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ADE80"/>
                </a:solidFill>
                <a:latin typeface="JetBrains Mono"/>
              </a:rPr>
              <a:t>SPRING BOOT + ANGULAR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3300" y="4176712"/>
            <a:ext cx="190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4748B"/>
                </a:solidFill>
                <a:latin typeface="Plus Jakarta Sans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3300" y="4329112"/>
            <a:ext cx="190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59E0B"/>
                </a:solidFill>
                <a:latin typeface="JetBrains Mono"/>
              </a:rPr>
              <a:t>MYSQL RELATIONAL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7560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Plus Jakarta Sans"/>
              </a:rPr>
              <a:t>https://framerusercontent.com/images/3eE879ZiGeS9hfCpIIZjeHrcSw.png?width=2816&amp;height=1536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0359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www.gend.co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Plus Jakarta Sans"/>
              </a:rPr>
              <a:t>https://elements-resized.envatousercontent.com/elements-cover-images/bd2b5052-4dc5-4c1d-bde4-2208aa537086?w=433&amp;cf_fit=scale-down&amp;q=85&amp;format=auto&amp;s=504f0cd3d51d7fb25860ad23c625c2df3721eff2413b86f1a2073eebfa4181e6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24075"/>
            <a:ext cx="2750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elements.envato.com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1684</Words>
  <Application>Microsoft Office PowerPoint</Application>
  <PresentationFormat>Widescreen</PresentationFormat>
  <Paragraphs>315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Plus Jakarta Sans</vt:lpstr>
      <vt:lpstr>JetBrains Mono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Jageshwar Singh</dc:creator>
  <cp:keywords/>
  <dc:description>generated using python-pptx</dc:description>
  <cp:lastModifiedBy>tanishq1068@gmail.com</cp:lastModifiedBy>
  <cp:revision>2</cp:revision>
  <dcterms:created xsi:type="dcterms:W3CDTF">2013-01-27T09:14:16Z</dcterms:created>
  <dcterms:modified xsi:type="dcterms:W3CDTF">2026-10-01T03:17:14Z</dcterms:modified>
  <cp:category/>
</cp:coreProperties>
</file>